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4" r:id="rId4"/>
    <p:sldId id="258" r:id="rId5"/>
    <p:sldId id="261" r:id="rId6"/>
    <p:sldId id="259" r:id="rId7"/>
    <p:sldId id="260" r:id="rId8"/>
    <p:sldId id="262" r:id="rId9"/>
    <p:sldId id="272" r:id="rId10"/>
    <p:sldId id="266" r:id="rId11"/>
    <p:sldId id="269" r:id="rId12"/>
    <p:sldId id="271" r:id="rId13"/>
    <p:sldId id="270" r:id="rId14"/>
    <p:sldId id="273" r:id="rId15"/>
    <p:sldId id="274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g3+EgoUXsxGAaEn0G7hS1Wgw2+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3867" autoAdjust="0"/>
  </p:normalViewPr>
  <p:slideViewPr>
    <p:cSldViewPr snapToGrid="0">
      <p:cViewPr varScale="1">
        <p:scale>
          <a:sx n="104" d="100"/>
          <a:sy n="104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428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43781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8878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4081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4672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7554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0451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5763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899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6914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9833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9170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764973-2F5F-47FF-8D51-F0E3D19CC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94" y="2074086"/>
            <a:ext cx="10820621" cy="47839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F89FD2-5AB3-4EA3-87BD-7D9FC69213C8}"/>
              </a:ext>
            </a:extLst>
          </p:cNvPr>
          <p:cNvSpPr txBox="1"/>
          <p:nvPr/>
        </p:nvSpPr>
        <p:spPr>
          <a:xfrm>
            <a:off x="1724408" y="196649"/>
            <a:ext cx="9399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Seasonality in Time Series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F1870-9015-1D55-DB82-8B24D9587DAD}"/>
              </a:ext>
            </a:extLst>
          </p:cNvPr>
          <p:cNvSpPr txBox="1"/>
          <p:nvPr/>
        </p:nvSpPr>
        <p:spPr>
          <a:xfrm>
            <a:off x="1080655" y="904535"/>
            <a:ext cx="98921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Seasonality</a:t>
            </a:r>
            <a:r>
              <a:rPr lang="en-US" dirty="0"/>
              <a:t> means </a:t>
            </a:r>
            <a:r>
              <a:rPr lang="en-US" b="1" dirty="0"/>
              <a:t>a repeating pattern in data that happens at regular time intervals</a:t>
            </a:r>
            <a:r>
              <a:rPr lang="en-US" dirty="0"/>
              <a:t> because of time-related factors.</a:t>
            </a:r>
          </a:p>
          <a:p>
            <a:r>
              <a:rPr lang="en-US" dirty="0"/>
              <a:t>Seasonality = the same behavior repeating again and again over time.</a:t>
            </a:r>
          </a:p>
          <a:p>
            <a:r>
              <a:rPr lang="en-US" dirty="0"/>
              <a:t>These patterns </a:t>
            </a:r>
            <a:r>
              <a:rPr lang="en-US" b="1" dirty="0"/>
              <a:t>repeat each year / month / week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F89FD2-5AB3-4EA3-87BD-7D9FC69213C8}"/>
              </a:ext>
            </a:extLst>
          </p:cNvPr>
          <p:cNvSpPr txBox="1"/>
          <p:nvPr/>
        </p:nvSpPr>
        <p:spPr>
          <a:xfrm>
            <a:off x="1807535" y="372140"/>
            <a:ext cx="93991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Trend in Time series</a:t>
            </a:r>
          </a:p>
          <a:p>
            <a:r>
              <a:rPr lang="en-US" b="1" dirty="0"/>
              <a:t>Trend</a:t>
            </a:r>
            <a:r>
              <a:rPr lang="en-US" dirty="0"/>
              <a:t> is the </a:t>
            </a:r>
            <a:r>
              <a:rPr lang="en-US" b="1" dirty="0"/>
              <a:t>long-term direction of movement</a:t>
            </a:r>
            <a:r>
              <a:rPr lang="en-US" dirty="0"/>
              <a:t> in a time-series data over time.</a:t>
            </a:r>
          </a:p>
          <a:p>
            <a:r>
              <a:rPr lang="en-US" dirty="0"/>
              <a:t>It shows whether the data is </a:t>
            </a:r>
            <a:r>
              <a:rPr lang="en-US" b="1" dirty="0"/>
              <a:t>generally increasing, decreasing, or staying stable</a:t>
            </a:r>
            <a:r>
              <a:rPr lang="en-US" dirty="0"/>
              <a:t>, ignoring short-term fluctuations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C02D4B-FF1F-46B6-9CB0-BBAE8C1CD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298" y="1658901"/>
            <a:ext cx="9895478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4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F89FD2-5AB3-4EA3-87BD-7D9FC69213C8}"/>
              </a:ext>
            </a:extLst>
          </p:cNvPr>
          <p:cNvSpPr txBox="1"/>
          <p:nvPr/>
        </p:nvSpPr>
        <p:spPr>
          <a:xfrm>
            <a:off x="495971" y="446031"/>
            <a:ext cx="9399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Decomposition of Time series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68469C-95C7-44BE-A79A-DD6B10C4E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4" y="1648047"/>
            <a:ext cx="11694485" cy="492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73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F89FD2-5AB3-4EA3-87BD-7D9FC69213C8}"/>
              </a:ext>
            </a:extLst>
          </p:cNvPr>
          <p:cNvSpPr txBox="1"/>
          <p:nvPr/>
        </p:nvSpPr>
        <p:spPr>
          <a:xfrm>
            <a:off x="871870" y="102127"/>
            <a:ext cx="939918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Stationarity in Time series</a:t>
            </a:r>
          </a:p>
          <a:p>
            <a:r>
              <a:rPr lang="en-US" dirty="0"/>
              <a:t>A Stationary series is one whose statistical properties such as mean, variance, covariance, and standard deviation do not vary with time, or these stats properties are not a function of time. In other words, stationarity in Time Series also means series without a Trend or Seasonal components</a:t>
            </a:r>
          </a:p>
          <a:p>
            <a:r>
              <a:rPr lang="en-US" dirty="0"/>
              <a:t>A time series is stationary if its statistical properties do not change over time.</a:t>
            </a:r>
          </a:p>
          <a:p>
            <a:r>
              <a:rPr lang="en-US" dirty="0"/>
              <a:t>That means the data behaves the </a:t>
            </a:r>
            <a:r>
              <a:rPr lang="en-US" b="1" dirty="0"/>
              <a:t>same way today as it did in the past</a:t>
            </a:r>
            <a:r>
              <a:rPr lang="en-US" dirty="0"/>
              <a:t>.</a:t>
            </a:r>
          </a:p>
          <a:p>
            <a:endParaRPr lang="en-US" sz="2000" dirty="0"/>
          </a:p>
          <a:p>
            <a:r>
              <a:rPr lang="en-US" sz="2400" dirty="0"/>
              <a:t>Augmented Dickey-Fuller (ADF) test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827578-2FFE-4AE8-8CA4-6BD5F0507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9198"/>
            <a:ext cx="11695814" cy="395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49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F89FD2-5AB3-4EA3-87BD-7D9FC69213C8}"/>
              </a:ext>
            </a:extLst>
          </p:cNvPr>
          <p:cNvSpPr txBox="1"/>
          <p:nvPr/>
        </p:nvSpPr>
        <p:spPr>
          <a:xfrm>
            <a:off x="871870" y="102127"/>
            <a:ext cx="93991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Stationarity in Time series</a:t>
            </a:r>
          </a:p>
          <a:p>
            <a:r>
              <a:rPr lang="en-US" sz="2000" dirty="0"/>
              <a:t>A Stationary series is one whose statistical properties such as mean, variance, covariance, and standard deviation do not vary with time, or these stats properties are not a function of time. In other words, stationarity in Time Series also means series without a Trend or Seasonal components</a:t>
            </a:r>
          </a:p>
          <a:p>
            <a:r>
              <a:rPr lang="en-US" sz="2400" dirty="0"/>
              <a:t>Augmented Dickey-Fuller (ADF) test</a:t>
            </a:r>
          </a:p>
          <a:p>
            <a:r>
              <a:rPr lang="en-US" sz="2400" dirty="0"/>
              <a:t>H0 : </a:t>
            </a:r>
            <a:r>
              <a:rPr lang="en-US" sz="2400" dirty="0" err="1"/>
              <a:t>ts</a:t>
            </a:r>
            <a:r>
              <a:rPr lang="en-US" sz="2400" dirty="0"/>
              <a:t> is not stationary</a:t>
            </a:r>
          </a:p>
          <a:p>
            <a:r>
              <a:rPr lang="en-US" sz="2400" dirty="0"/>
              <a:t>H null : </a:t>
            </a:r>
            <a:r>
              <a:rPr lang="en-US" sz="2400" dirty="0" err="1"/>
              <a:t>ts</a:t>
            </a:r>
            <a:r>
              <a:rPr lang="en-US" sz="2400" dirty="0"/>
              <a:t> is stationary</a:t>
            </a:r>
          </a:p>
          <a:p>
            <a:r>
              <a:rPr lang="en-US" sz="2400" dirty="0"/>
              <a:t>If p value &lt; 0.05 </a:t>
            </a:r>
            <a:r>
              <a:rPr lang="en-US" sz="2400" dirty="0" err="1"/>
              <a:t>ts</a:t>
            </a:r>
            <a:r>
              <a:rPr lang="en-US" sz="2400" dirty="0"/>
              <a:t> is stationary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827578-2FFE-4AE8-8CA4-6BD5F0507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06185"/>
            <a:ext cx="11695814" cy="23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8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F89FD2-5AB3-4EA3-87BD-7D9FC69213C8}"/>
              </a:ext>
            </a:extLst>
          </p:cNvPr>
          <p:cNvSpPr txBox="1"/>
          <p:nvPr/>
        </p:nvSpPr>
        <p:spPr>
          <a:xfrm>
            <a:off x="1807535" y="372140"/>
            <a:ext cx="9399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Stationarity in Time series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6BFAA2-E51E-441B-8DED-EDF261C3F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80" y="1579156"/>
            <a:ext cx="10582275" cy="490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27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F89FD2-5AB3-4EA3-87BD-7D9FC69213C8}"/>
              </a:ext>
            </a:extLst>
          </p:cNvPr>
          <p:cNvSpPr txBox="1"/>
          <p:nvPr/>
        </p:nvSpPr>
        <p:spPr>
          <a:xfrm>
            <a:off x="1807535" y="372140"/>
            <a:ext cx="9399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Stationarity in Time series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5F17B-8966-4708-91B6-A86AA1209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18" y="1584250"/>
            <a:ext cx="11423687" cy="511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57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8F0CC6-09E1-465F-8B9F-30A5FC682CBF}"/>
              </a:ext>
            </a:extLst>
          </p:cNvPr>
          <p:cNvSpPr txBox="1"/>
          <p:nvPr/>
        </p:nvSpPr>
        <p:spPr>
          <a:xfrm>
            <a:off x="561377" y="1481155"/>
            <a:ext cx="1039864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Time series models like ARIMA assume that, data is stationary, because, when it is stationary, the mean, variance and covariance are constant and we can accurately do the statistic analysis</a:t>
            </a:r>
          </a:p>
          <a:p>
            <a:endParaRPr lang="en-US" sz="2800" dirty="0"/>
          </a:p>
          <a:p>
            <a:r>
              <a:rPr lang="en-US" sz="2800" dirty="0"/>
              <a:t>If data is not stationary, data has to be transformed before modelling.</a:t>
            </a:r>
          </a:p>
          <a:p>
            <a:r>
              <a:rPr lang="en-US" sz="2400" dirty="0"/>
              <a:t>The two most common methods to transform series into stationarity are:</a:t>
            </a:r>
          </a:p>
          <a:p>
            <a:r>
              <a:rPr lang="en-US" sz="2400" b="1" dirty="0"/>
              <a:t>Transformation</a:t>
            </a:r>
            <a:r>
              <a:rPr lang="en-US" sz="2400" dirty="0"/>
              <a:t>: Using log or square root to stabilize the non-constant variance.</a:t>
            </a:r>
          </a:p>
          <a:p>
            <a:r>
              <a:rPr lang="en-US" sz="2400" b="1" dirty="0"/>
              <a:t>Differencing</a:t>
            </a:r>
            <a:r>
              <a:rPr lang="en-US" sz="2400" dirty="0"/>
              <a:t>: subtracts the current value from the previous one</a:t>
            </a:r>
            <a:r>
              <a:rPr lang="en-US" sz="2800" dirty="0"/>
              <a:t>.</a:t>
            </a:r>
          </a:p>
          <a:p>
            <a:endParaRPr 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4E3E71-5396-ED3D-82B3-326C6E1CAF27}"/>
              </a:ext>
            </a:extLst>
          </p:cNvPr>
          <p:cNvSpPr txBox="1"/>
          <p:nvPr/>
        </p:nvSpPr>
        <p:spPr>
          <a:xfrm>
            <a:off x="923636" y="350982"/>
            <a:ext cx="7065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Transforming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588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9BF2E4-74D3-4F42-B10A-25685E7D4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97" y="167351"/>
            <a:ext cx="10836349" cy="633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2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7EEB65-3699-4D60-9659-0B4B68EB051B}"/>
              </a:ext>
            </a:extLst>
          </p:cNvPr>
          <p:cNvSpPr txBox="1"/>
          <p:nvPr/>
        </p:nvSpPr>
        <p:spPr>
          <a:xfrm>
            <a:off x="1084521" y="40275"/>
            <a:ext cx="82721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Forecast methods</a:t>
            </a:r>
          </a:p>
          <a:p>
            <a:r>
              <a:rPr lang="en-US" sz="4400" b="1" dirty="0">
                <a:solidFill>
                  <a:srgbClr val="FF0000"/>
                </a:solidFill>
              </a:rPr>
              <a:t>Simple Moving Average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4CF656-8330-4378-BC11-11838BC99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09" y="1613601"/>
            <a:ext cx="11283358" cy="511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6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7EEB65-3699-4D60-9659-0B4B68EB051B}"/>
              </a:ext>
            </a:extLst>
          </p:cNvPr>
          <p:cNvSpPr txBox="1"/>
          <p:nvPr/>
        </p:nvSpPr>
        <p:spPr>
          <a:xfrm>
            <a:off x="1084521" y="40275"/>
            <a:ext cx="10898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ARIMA – Require stationary TS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Autoregressive Integrated   Moving Average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8450D6-0C71-4F66-B3F3-C98AF986A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1547245"/>
            <a:ext cx="10982325" cy="449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161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3C137B-46F9-4B8A-BCB4-310EE39C2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63" y="164583"/>
            <a:ext cx="9825149" cy="35355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D40251-342C-4911-8CA6-570CEB73C721}"/>
              </a:ext>
            </a:extLst>
          </p:cNvPr>
          <p:cNvSpPr txBox="1"/>
          <p:nvPr/>
        </p:nvSpPr>
        <p:spPr>
          <a:xfrm>
            <a:off x="988163" y="3939363"/>
            <a:ext cx="99314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p</a:t>
            </a:r>
            <a:r>
              <a:rPr lang="en-US" sz="2800" dirty="0"/>
              <a:t>: the number of lag observations in the model, also known as the lag order.</a:t>
            </a:r>
          </a:p>
          <a:p>
            <a:r>
              <a:rPr lang="en-US" sz="2800" i="1" dirty="0"/>
              <a:t>d</a:t>
            </a:r>
            <a:r>
              <a:rPr lang="en-US" sz="2800" dirty="0"/>
              <a:t>: the number of times the raw observations are differenced; also known as the degree of differencing.</a:t>
            </a:r>
          </a:p>
          <a:p>
            <a:r>
              <a:rPr lang="en-US" sz="2800" dirty="0"/>
              <a:t>q: the size of the moving average window, also known as the order of the moving average.</a:t>
            </a:r>
          </a:p>
        </p:txBody>
      </p:sp>
    </p:spTree>
    <p:extLst>
      <p:ext uri="{BB962C8B-B14F-4D97-AF65-F5344CB8AC3E}">
        <p14:creationId xmlns:p14="http://schemas.microsoft.com/office/powerpoint/2010/main" val="2310597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62A9DA-B253-4BEF-9000-0465B4BA8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92" y="223173"/>
            <a:ext cx="10934700" cy="607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83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8DAC-5797-B4CF-EF4D-C8C9A4175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255" y="175491"/>
            <a:ext cx="11046692" cy="1588654"/>
          </a:xfrm>
        </p:spPr>
        <p:txBody>
          <a:bodyPr>
            <a:noAutofit/>
          </a:bodyPr>
          <a:lstStyle/>
          <a:p>
            <a:pPr algn="l"/>
            <a:r>
              <a:rPr lang="en-US" sz="2000" b="1" dirty="0"/>
              <a:t>ARIMA (</a:t>
            </a:r>
            <a:r>
              <a:rPr lang="en-US" sz="2000" b="1" dirty="0" err="1"/>
              <a:t>AutoRegressive</a:t>
            </a:r>
            <a:r>
              <a:rPr lang="en-US" sz="2000" b="1" dirty="0"/>
              <a:t> Integrated Moving Average)</a:t>
            </a:r>
            <a:r>
              <a:rPr lang="en-US" sz="2000" dirty="0"/>
              <a:t> is a statistical model used to </a:t>
            </a:r>
            <a:r>
              <a:rPr lang="en-US" sz="2000" b="1" dirty="0"/>
              <a:t>forecast time-series data</a:t>
            </a:r>
            <a:r>
              <a:rPr lang="en-US" sz="2000" dirty="0"/>
              <a:t> by using past values and past errors.</a:t>
            </a:r>
            <a:br>
              <a:rPr lang="en-US" sz="2000" dirty="0"/>
            </a:br>
            <a:r>
              <a:rPr lang="en-US" sz="2000" dirty="0"/>
              <a:t>ARIMA works </a:t>
            </a:r>
            <a:r>
              <a:rPr lang="en-US" sz="2000" b="1" dirty="0"/>
              <a:t>only with stationary time series</a:t>
            </a:r>
            <a:r>
              <a:rPr lang="en-US" sz="2000" dirty="0"/>
              <a:t>, which is why differencing</a:t>
            </a:r>
            <a:r>
              <a:rPr lang="en-US" sz="1200" dirty="0"/>
              <a:t> (d) </a:t>
            </a:r>
            <a:r>
              <a:rPr lang="en-US" sz="2000" dirty="0"/>
              <a:t>is required</a:t>
            </a:r>
            <a:r>
              <a:rPr lang="en-US" sz="2400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816EB4-C731-ADFA-9C02-D8B713DCB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20013"/>
              </p:ext>
            </p:extLst>
          </p:nvPr>
        </p:nvGraphicFramePr>
        <p:xfrm>
          <a:off x="302491" y="2209800"/>
          <a:ext cx="10515600" cy="1219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218768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422177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09757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658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AutoRegressive</a:t>
                      </a:r>
                      <a:r>
                        <a:rPr lang="en-US" dirty="0"/>
                        <a:t> (AR)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 of past values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54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Integrated (I)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 of differencing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125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Moving Average (MA)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Number of past errors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698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8458E7-2AEA-9272-B5FB-693467330396}"/>
              </a:ext>
            </a:extLst>
          </p:cNvPr>
          <p:cNvSpPr txBox="1"/>
          <p:nvPr/>
        </p:nvSpPr>
        <p:spPr>
          <a:xfrm>
            <a:off x="302491" y="4027054"/>
            <a:ext cx="60798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 – AutoRegressive (AR)</a:t>
            </a:r>
          </a:p>
          <a:p>
            <a:r>
              <a:rPr lang="en-US"/>
              <a:t>How many </a:t>
            </a:r>
            <a:r>
              <a:rPr lang="en-US" b="1"/>
              <a:t>previous observations</a:t>
            </a:r>
            <a:r>
              <a:rPr lang="en-US"/>
              <a:t> influence the current value? T</a:t>
            </a:r>
          </a:p>
          <a:p>
            <a:r>
              <a:rPr lang="en-US"/>
              <a:t>This means today’s value depends on </a:t>
            </a:r>
            <a:r>
              <a:rPr lang="en-US" b="1"/>
              <a:t>yesterday’s value</a:t>
            </a:r>
            <a:r>
              <a:rPr lang="en-US"/>
              <a:t>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279B2-021B-0052-AB9B-A155B2F2B4C8}"/>
              </a:ext>
            </a:extLst>
          </p:cNvPr>
          <p:cNvSpPr txBox="1"/>
          <p:nvPr/>
        </p:nvSpPr>
        <p:spPr>
          <a:xfrm>
            <a:off x="302491" y="4981161"/>
            <a:ext cx="60798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 – Integrated (Differencing)</a:t>
            </a:r>
          </a:p>
          <a:p>
            <a:r>
              <a:rPr lang="en-US" dirty="0"/>
              <a:t>How many times do we difference the data to make it </a:t>
            </a:r>
            <a:r>
              <a:rPr lang="en-US" b="1" dirty="0"/>
              <a:t>stationary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B667B-A1D0-B77D-840C-D8F8EFB9CBA4}"/>
              </a:ext>
            </a:extLst>
          </p:cNvPr>
          <p:cNvSpPr txBox="1"/>
          <p:nvPr/>
        </p:nvSpPr>
        <p:spPr>
          <a:xfrm>
            <a:off x="302491" y="571982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q – Moving Average (MA)</a:t>
            </a:r>
          </a:p>
          <a:p>
            <a:pPr>
              <a:buNone/>
            </a:pPr>
            <a:r>
              <a:rPr lang="en-US" dirty="0"/>
              <a:t>How many </a:t>
            </a:r>
            <a:r>
              <a:rPr lang="en-US" b="1" dirty="0"/>
              <a:t>past forecast errors</a:t>
            </a:r>
            <a:r>
              <a:rPr lang="en-US" dirty="0"/>
              <a:t> influence the current value?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866056-7FF1-5EFE-EDA8-C82507C3C30C}"/>
              </a:ext>
            </a:extLst>
          </p:cNvPr>
          <p:cNvSpPr txBox="1"/>
          <p:nvPr/>
        </p:nvSpPr>
        <p:spPr>
          <a:xfrm>
            <a:off x="6504709" y="3874655"/>
            <a:ext cx="53848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p- number of past values</a:t>
            </a:r>
          </a:p>
          <a:p>
            <a:r>
              <a:rPr lang="en-US" dirty="0"/>
              <a:t>p tells the model how many previous time points it should look at to predict the current value.</a:t>
            </a:r>
          </a:p>
          <a:p>
            <a:r>
              <a:rPr lang="en-US" dirty="0"/>
              <a:t>p = how far back in time the model remembers actual values</a:t>
            </a:r>
          </a:p>
          <a:p>
            <a:r>
              <a:rPr lang="en-US" dirty="0"/>
              <a:t>p = 1 → look at last month’s sales</a:t>
            </a:r>
          </a:p>
          <a:p>
            <a:r>
              <a:rPr lang="en-US" dirty="0"/>
              <a:t>p = 2 → look at last month + the month before</a:t>
            </a:r>
          </a:p>
          <a:p>
            <a:r>
              <a:rPr lang="en-US" dirty="0"/>
              <a:t>p = 3 → look at last 3 months</a:t>
            </a:r>
          </a:p>
          <a:p>
            <a:r>
              <a:rPr lang="en-US" dirty="0"/>
              <a:t>Small </a:t>
            </a:r>
            <a:r>
              <a:rPr lang="en-US" b="1" dirty="0"/>
              <a:t>p</a:t>
            </a:r>
            <a:r>
              <a:rPr lang="en-US" dirty="0"/>
              <a:t> → short memory</a:t>
            </a:r>
          </a:p>
          <a:p>
            <a:r>
              <a:rPr lang="en-US" dirty="0"/>
              <a:t>Large </a:t>
            </a:r>
            <a:r>
              <a:rPr lang="en-US" b="1" dirty="0"/>
              <a:t>p</a:t>
            </a:r>
            <a:r>
              <a:rPr lang="en-US" dirty="0"/>
              <a:t> → long memory</a:t>
            </a:r>
          </a:p>
          <a:p>
            <a:r>
              <a:rPr lang="en-US" dirty="0"/>
              <a:t>Too large </a:t>
            </a:r>
            <a:r>
              <a:rPr lang="en-US" b="1" dirty="0"/>
              <a:t>p</a:t>
            </a:r>
            <a:r>
              <a:rPr lang="en-US" dirty="0"/>
              <a:t> → overfitting risk</a:t>
            </a:r>
          </a:p>
          <a:p>
            <a:r>
              <a:rPr lang="en-US" dirty="0"/>
              <a:t>The goal is to choose </a:t>
            </a:r>
            <a:r>
              <a:rPr lang="en-US" b="1" dirty="0"/>
              <a:t>just enough past values</a:t>
            </a:r>
            <a:r>
              <a:rPr lang="en-US" dirty="0"/>
              <a:t> to explain the pattern.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119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B6EEB-0395-B5BA-B7AF-52CCE8A5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6408DB-C22C-D0DB-EEC2-0718595D5645}"/>
              </a:ext>
            </a:extLst>
          </p:cNvPr>
          <p:cNvSpPr txBox="1"/>
          <p:nvPr/>
        </p:nvSpPr>
        <p:spPr>
          <a:xfrm>
            <a:off x="145472" y="137901"/>
            <a:ext cx="84905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1.p – </a:t>
            </a:r>
            <a:r>
              <a:rPr lang="en-US" b="1" dirty="0" err="1"/>
              <a:t>AutoRegressive</a:t>
            </a:r>
            <a:r>
              <a:rPr lang="en-US" b="1" dirty="0"/>
              <a:t> (AR)</a:t>
            </a:r>
          </a:p>
          <a:p>
            <a:r>
              <a:rPr lang="en-US" dirty="0"/>
              <a:t>How many </a:t>
            </a:r>
            <a:r>
              <a:rPr lang="en-US" b="1" dirty="0"/>
              <a:t>previous observations</a:t>
            </a:r>
            <a:r>
              <a:rPr lang="en-US" dirty="0"/>
              <a:t> influence the current value? T</a:t>
            </a:r>
          </a:p>
          <a:p>
            <a:r>
              <a:rPr lang="en-US" dirty="0"/>
              <a:t>This means today’s value depends on </a:t>
            </a:r>
            <a:r>
              <a:rPr lang="en-US" b="1" dirty="0"/>
              <a:t>yesterday’s value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EB281-504F-A89E-3F3B-A6A88A850C72}"/>
              </a:ext>
            </a:extLst>
          </p:cNvPr>
          <p:cNvSpPr txBox="1"/>
          <p:nvPr/>
        </p:nvSpPr>
        <p:spPr>
          <a:xfrm>
            <a:off x="6758709" y="203445"/>
            <a:ext cx="607983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2.d – Integrated (Differencing)</a:t>
            </a:r>
          </a:p>
          <a:p>
            <a:r>
              <a:rPr lang="en-US" dirty="0"/>
              <a:t>How many times do we difference the data to make it </a:t>
            </a:r>
            <a:r>
              <a:rPr lang="en-US" b="1" dirty="0"/>
              <a:t>stationary</a:t>
            </a:r>
            <a:r>
              <a:rPr lang="en-US" dirty="0"/>
              <a:t>?</a:t>
            </a:r>
          </a:p>
          <a:p>
            <a:r>
              <a:rPr lang="en-US" dirty="0"/>
              <a:t>d = how many times we transform the data to stop it from drifting up or down</a:t>
            </a:r>
          </a:p>
          <a:p>
            <a:r>
              <a:rPr lang="en-US" dirty="0"/>
              <a:t>ARIMA </a:t>
            </a:r>
            <a:r>
              <a:rPr lang="en-US" b="1" dirty="0"/>
              <a:t>cannot work properly</a:t>
            </a:r>
            <a:r>
              <a:rPr lang="en-US" dirty="0"/>
              <a:t> on trending data.</a:t>
            </a:r>
          </a:p>
          <a:p>
            <a:r>
              <a:rPr lang="en-US" dirty="0"/>
              <a:t>So we use </a:t>
            </a:r>
            <a:r>
              <a:rPr lang="en-US" b="1" dirty="0"/>
              <a:t>differencing</a:t>
            </a:r>
            <a:r>
              <a:rPr lang="en-US" dirty="0"/>
              <a:t> to:</a:t>
            </a:r>
          </a:p>
          <a:p>
            <a:r>
              <a:rPr lang="en-US" dirty="0"/>
              <a:t>remove trend</a:t>
            </a:r>
          </a:p>
          <a:p>
            <a:r>
              <a:rPr lang="en-US" dirty="0"/>
              <a:t>stabilize the mean</a:t>
            </a:r>
          </a:p>
          <a:p>
            <a:r>
              <a:rPr lang="en-US" dirty="0"/>
              <a:t>make the series stationary</a:t>
            </a:r>
          </a:p>
          <a:p>
            <a:r>
              <a:rPr lang="en-US" dirty="0"/>
              <a:t>Original data (trending):100, 110, 120, 130</a:t>
            </a:r>
          </a:p>
          <a:p>
            <a:r>
              <a:rPr lang="en-US" dirty="0"/>
              <a:t>d = 1 (first difference) : 10, 10, 10 #Now the series is stable.</a:t>
            </a:r>
          </a:p>
          <a:p>
            <a:r>
              <a:rPr lang="en-US" b="1" dirty="0"/>
              <a:t>d = 1</a:t>
            </a:r>
            <a:r>
              <a:rPr lang="en-US" dirty="0"/>
              <a:t> is most common</a:t>
            </a:r>
          </a:p>
          <a:p>
            <a:r>
              <a:rPr lang="en-US" b="1" dirty="0"/>
              <a:t>d &gt; 2</a:t>
            </a:r>
            <a:r>
              <a:rPr lang="en-US" dirty="0"/>
              <a:t> is usually avoided</a:t>
            </a:r>
          </a:p>
          <a:p>
            <a:r>
              <a:rPr lang="en-US" dirty="0"/>
              <a:t>Use </a:t>
            </a:r>
            <a:r>
              <a:rPr lang="en-US" b="1" dirty="0"/>
              <a:t>ADF test</a:t>
            </a:r>
            <a:endParaRPr lang="en-US" dirty="0"/>
          </a:p>
          <a:p>
            <a:r>
              <a:rPr lang="en-US" dirty="0"/>
              <a:t>p-value &lt; 0.05 → no more differencing needed</a:t>
            </a:r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35816-649C-A5FD-031D-5AE6B2734491}"/>
              </a:ext>
            </a:extLst>
          </p:cNvPr>
          <p:cNvSpPr txBox="1"/>
          <p:nvPr/>
        </p:nvSpPr>
        <p:spPr>
          <a:xfrm>
            <a:off x="302491" y="4127596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3.q – Moving Average (MA)</a:t>
            </a:r>
          </a:p>
          <a:p>
            <a:pPr>
              <a:buNone/>
            </a:pPr>
            <a:r>
              <a:rPr lang="en-US" dirty="0"/>
              <a:t>How many </a:t>
            </a:r>
            <a:r>
              <a:rPr lang="en-US" b="1" dirty="0"/>
              <a:t>past forecast errors</a:t>
            </a:r>
            <a:r>
              <a:rPr lang="en-US" dirty="0"/>
              <a:t> influence the current value?</a:t>
            </a:r>
          </a:p>
          <a:p>
            <a:r>
              <a:rPr lang="en-US" b="1" dirty="0"/>
              <a:t>q</a:t>
            </a:r>
            <a:r>
              <a:rPr lang="en-US" dirty="0"/>
              <a:t> tells the model </a:t>
            </a:r>
            <a:r>
              <a:rPr lang="en-US" b="1" dirty="0"/>
              <a:t>how many past forecast errors it should remember</a:t>
            </a:r>
            <a:r>
              <a:rPr lang="en-US" dirty="0"/>
              <a:t> when predicting the current value.</a:t>
            </a:r>
          </a:p>
          <a:p>
            <a:pPr>
              <a:buNone/>
            </a:pPr>
            <a:r>
              <a:rPr lang="en-US" dirty="0"/>
              <a:t>q = how many past mistakes the model learns from</a:t>
            </a:r>
          </a:p>
          <a:p>
            <a:pPr>
              <a:buNone/>
            </a:pPr>
            <a:r>
              <a:rPr lang="en-US" dirty="0"/>
              <a:t>Even after using past values (</a:t>
            </a:r>
            <a:r>
              <a:rPr lang="en-US" b="1" dirty="0"/>
              <a:t>p</a:t>
            </a:r>
            <a:r>
              <a:rPr lang="en-US" dirty="0"/>
              <a:t>) and differencing (</a:t>
            </a:r>
            <a:r>
              <a:rPr lang="en-US" b="1" dirty="0"/>
              <a:t>d</a:t>
            </a:r>
            <a:r>
              <a:rPr lang="en-US" dirty="0"/>
              <a:t>), predictions are never perfect.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errors made in the past</a:t>
            </a:r>
            <a:r>
              <a:rPr lang="en-US" dirty="0"/>
              <a:t> still contain information.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02F3D0-6797-5835-FC1A-F0ED441BBAA5}"/>
              </a:ext>
            </a:extLst>
          </p:cNvPr>
          <p:cNvSpPr txBox="1"/>
          <p:nvPr/>
        </p:nvSpPr>
        <p:spPr>
          <a:xfrm>
            <a:off x="302491" y="942109"/>
            <a:ext cx="53848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p- number of past values</a:t>
            </a:r>
          </a:p>
          <a:p>
            <a:r>
              <a:rPr lang="en-US" dirty="0"/>
              <a:t>p tells the model how many previous time points it should look at to predict the current value.</a:t>
            </a:r>
          </a:p>
          <a:p>
            <a:r>
              <a:rPr lang="en-US" dirty="0"/>
              <a:t>p = how far back in time the model remembers actual values</a:t>
            </a:r>
          </a:p>
          <a:p>
            <a:r>
              <a:rPr lang="en-US" dirty="0"/>
              <a:t>p = 1 → look at last month’s sales</a:t>
            </a:r>
          </a:p>
          <a:p>
            <a:r>
              <a:rPr lang="en-US" dirty="0"/>
              <a:t>p = 2 → look at last month + the month before</a:t>
            </a:r>
          </a:p>
          <a:p>
            <a:r>
              <a:rPr lang="en-US" dirty="0"/>
              <a:t>p = 3 → look at last 3 months</a:t>
            </a:r>
          </a:p>
          <a:p>
            <a:r>
              <a:rPr lang="en-US" dirty="0"/>
              <a:t>Small </a:t>
            </a:r>
            <a:r>
              <a:rPr lang="en-US" b="1" dirty="0"/>
              <a:t>p</a:t>
            </a:r>
            <a:r>
              <a:rPr lang="en-US" dirty="0"/>
              <a:t> → short memory</a:t>
            </a:r>
          </a:p>
          <a:p>
            <a:r>
              <a:rPr lang="en-US" dirty="0"/>
              <a:t>Large </a:t>
            </a:r>
            <a:r>
              <a:rPr lang="en-US" b="1" dirty="0"/>
              <a:t>p</a:t>
            </a:r>
            <a:r>
              <a:rPr lang="en-US" dirty="0"/>
              <a:t> → long memory</a:t>
            </a:r>
          </a:p>
          <a:p>
            <a:r>
              <a:rPr lang="en-US" dirty="0"/>
              <a:t>Too large </a:t>
            </a:r>
            <a:r>
              <a:rPr lang="en-US" b="1" dirty="0"/>
              <a:t>p</a:t>
            </a:r>
            <a:r>
              <a:rPr lang="en-US" dirty="0"/>
              <a:t> → overfitting risk</a:t>
            </a:r>
          </a:p>
          <a:p>
            <a:r>
              <a:rPr lang="en-US" dirty="0"/>
              <a:t>The goal is to choose </a:t>
            </a:r>
            <a:r>
              <a:rPr lang="en-US" b="1" dirty="0"/>
              <a:t>just enough past values</a:t>
            </a:r>
            <a:r>
              <a:rPr lang="en-US" dirty="0"/>
              <a:t> to explain the pattern.</a:t>
            </a: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96B3499-91A8-EFEA-8C13-9D82B02BF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675143"/>
              </p:ext>
            </p:extLst>
          </p:nvPr>
        </p:nvGraphicFramePr>
        <p:xfrm>
          <a:off x="6758708" y="4685659"/>
          <a:ext cx="4906818" cy="1219200"/>
        </p:xfrm>
        <a:graphic>
          <a:graphicData uri="http://schemas.openxmlformats.org/drawingml/2006/table">
            <a:tbl>
              <a:tblPr/>
              <a:tblGrid>
                <a:gridCol w="2453409">
                  <a:extLst>
                    <a:ext uri="{9D8B030D-6E8A-4147-A177-3AD203B41FA5}">
                      <a16:colId xmlns:a16="http://schemas.microsoft.com/office/drawing/2014/main" val="3081606400"/>
                    </a:ext>
                  </a:extLst>
                </a:gridCol>
                <a:gridCol w="2453409">
                  <a:extLst>
                    <a:ext uri="{9D8B030D-6E8A-4147-A177-3AD203B41FA5}">
                      <a16:colId xmlns:a16="http://schemas.microsoft.com/office/drawing/2014/main" val="2977681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59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 =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Ignore past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2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 =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last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533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 =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 last two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648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219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996</Words>
  <Application>Microsoft Office PowerPoint</Application>
  <PresentationFormat>Widescreen</PresentationFormat>
  <Paragraphs>109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ARIMA (AutoRegressive Integrated Moving Average) is a statistical model used to forecast time-series data by using past values and past errors. ARIMA works only with stationary time series, which is why differencing (d) is required.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Humay Hasilli</dc:creator>
  <cp:lastModifiedBy>Humay Hasilli</cp:lastModifiedBy>
  <cp:revision>18</cp:revision>
  <dcterms:created xsi:type="dcterms:W3CDTF">2023-06-08T12:12:24Z</dcterms:created>
  <dcterms:modified xsi:type="dcterms:W3CDTF">2025-12-12T11:21:56Z</dcterms:modified>
</cp:coreProperties>
</file>